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Plus Jakarta Sans"/>
      <p:italic r:id="rId12"/>
    </p:embeddedFont>
    <p:embeddedFont>
      <p:font typeface="Space Grotesk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DD28C-1FB6-496C-904B-D402A9AAF53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9C6B7-F9A5-47BF-9ED6-5B0662B67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2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9C6B7-F9A5-47BF-9ED6-5B0662B67E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18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40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7600" y="5264083"/>
            <a:ext cx="106680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47600" y="6178863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0550" y="609600"/>
            <a:ext cx="9101137" cy="1782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900" b="1" i="0" u="none" dirty="0">
                <a:solidFill>
                  <a:srgbClr val="F8FAFC"/>
                </a:solidFill>
                <a:latin typeface="Space Grotesk"/>
              </a:rPr>
              <a:t>Rute </a:t>
            </a:r>
            <a:r>
              <a:rPr sz="3900" b="1" i="0" u="none" dirty="0" err="1">
                <a:solidFill>
                  <a:srgbClr val="F8FAFC"/>
                </a:solidFill>
                <a:latin typeface="Space Grotesk"/>
              </a:rPr>
              <a:t>Tercepat</a:t>
            </a:r>
            <a:r>
              <a:rPr sz="39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3900" b="1" i="0" u="none" dirty="0" err="1">
                <a:solidFill>
                  <a:srgbClr val="F8FAFC"/>
                </a:solidFill>
                <a:latin typeface="Space Grotesk"/>
              </a:rPr>
              <a:t>dari</a:t>
            </a:r>
            <a:r>
              <a:rPr sz="39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3900" b="1" i="0" u="none" dirty="0" err="1">
                <a:solidFill>
                  <a:srgbClr val="F8FAFC"/>
                </a:solidFill>
                <a:latin typeface="Space Grotesk"/>
              </a:rPr>
              <a:t>Parkiran</a:t>
            </a:r>
            <a:r>
              <a:rPr sz="3900" b="1" i="0" u="none" dirty="0">
                <a:solidFill>
                  <a:srgbClr val="F8FAFC"/>
                </a:solidFill>
                <a:latin typeface="Space Grotesk"/>
              </a:rPr>
              <a:t> </a:t>
            </a:r>
            <a:r>
              <a:rPr sz="3900" b="1" i="0" u="none" dirty="0" err="1">
                <a:solidFill>
                  <a:srgbClr val="F8FAFC"/>
                </a:solidFill>
                <a:latin typeface="Space Grotesk"/>
              </a:rPr>
              <a:t>ke</a:t>
            </a:r>
            <a:r>
              <a:rPr sz="3900" b="1" i="0" u="none" dirty="0">
                <a:solidFill>
                  <a:srgbClr val="F8FAFC"/>
                </a:solidFill>
                <a:latin typeface="Space Grotesk"/>
              </a:rPr>
              <a:t> Rooftop </a:t>
            </a:r>
            <a:r>
              <a:rPr sz="3900" b="1" i="0" u="none" dirty="0" err="1">
                <a:solidFill>
                  <a:srgbClr val="F8FAFC"/>
                </a:solidFill>
                <a:latin typeface="Space Grotesk"/>
              </a:rPr>
              <a:t>dengan</a:t>
            </a:r>
            <a:r>
              <a:rPr sz="3900" b="1" i="0" u="none" dirty="0">
                <a:solidFill>
                  <a:srgbClr val="F8FAFC"/>
                </a:solidFill>
                <a:latin typeface="Space Grotesk"/>
              </a:rPr>
              <a:t> Uniform-Cost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1788717"/>
            <a:ext cx="8929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Studi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Kasus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Optimasasi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Jalur Kampus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Menggunakan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Algoritma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UCS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600" y="5264083"/>
            <a:ext cx="188814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00" b="1" i="0" u="none" dirty="0">
                <a:solidFill>
                  <a:srgbClr val="64748B"/>
                </a:solidFill>
                <a:latin typeface="Plus Jakarta Sans"/>
              </a:rPr>
              <a:t>ANGGOTA KELOMPOK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600" y="5715283"/>
            <a:ext cx="191090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F1F5F9"/>
                </a:solidFill>
                <a:latin typeface="Plus Jakarta Sans"/>
              </a:rPr>
              <a:t>I Putu </a:t>
            </a:r>
            <a:r>
              <a:rPr sz="1600" b="1" i="0" u="none" dirty="0" err="1">
                <a:solidFill>
                  <a:srgbClr val="F1F5F9"/>
                </a:solidFill>
                <a:latin typeface="Plus Jakarta Sans"/>
              </a:rPr>
              <a:t>Atditya</a:t>
            </a:r>
            <a:r>
              <a:rPr sz="1600" b="1" i="0" u="none" dirty="0">
                <a:solidFill>
                  <a:srgbClr val="F1F5F9"/>
                </a:solidFill>
                <a:latin typeface="Plus Jakarta Sans"/>
              </a:rPr>
              <a:t> Perdana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600" y="5926357"/>
            <a:ext cx="104195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38BDF8"/>
                </a:solidFill>
                <a:latin typeface="Plus Jakarta Sans"/>
              </a:rPr>
              <a:t>2501010008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899" y="5726332"/>
            <a:ext cx="222259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F1F5F9"/>
                </a:solidFill>
                <a:latin typeface="Plus Jakarta Sans"/>
              </a:rPr>
              <a:t>I Putu </a:t>
            </a:r>
            <a:r>
              <a:rPr sz="1600" b="1" i="0" u="none" dirty="0" err="1">
                <a:solidFill>
                  <a:srgbClr val="F1F5F9"/>
                </a:solidFill>
                <a:latin typeface="Plus Jakarta Sans"/>
              </a:rPr>
              <a:t>Bujangga</a:t>
            </a:r>
            <a:r>
              <a:rPr sz="1600" b="1" i="0" u="none" dirty="0">
                <a:solidFill>
                  <a:srgbClr val="F1F5F9"/>
                </a:solidFill>
                <a:latin typeface="Plus Jakarta Sans"/>
              </a:rPr>
              <a:t> Oka Putra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899" y="5926357"/>
            <a:ext cx="104195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38BDF8"/>
                </a:solidFill>
                <a:latin typeface="Plus Jakarta Sans"/>
              </a:rPr>
              <a:t>2501010323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0077" y="5715283"/>
            <a:ext cx="252992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F1F5F9"/>
                </a:solidFill>
                <a:latin typeface="Plus Jakarta Sans"/>
              </a:rPr>
              <a:t>I Wayan Bayu Kusumadinatha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1886" y="5920784"/>
            <a:ext cx="104195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600" b="0" i="0" u="none" dirty="0">
                <a:solidFill>
                  <a:srgbClr val="38BDF8"/>
                </a:solidFill>
                <a:latin typeface="Plus Jakarta Sans"/>
              </a:rPr>
              <a:t>2501010359</a:t>
            </a: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06B3102A-4481-F888-D480-A3C8392AC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81" y="1313745"/>
            <a:ext cx="7459762" cy="41567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62275"/>
            <a:ext cx="2524125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6625" y="2962275"/>
            <a:ext cx="2524125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62275"/>
            <a:ext cx="2524125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05875" y="2962275"/>
            <a:ext cx="2524125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0125" y="3238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14750" y="3238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29375" y="3238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0" y="3238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STRUKTUR PRESENTASI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Alur Pembahasan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32385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771900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Deskripsi Kasus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067175"/>
            <a:ext cx="2143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Latar belakang penentuan rute tercepat dan estimasi waktu.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1875" y="32385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4750" y="3771900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Formulasi Masalah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750" y="4067175"/>
            <a:ext cx="2143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Komponen State, Initial, Goal, Action, dan Path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32385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771900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Graf &amp; Eksekusi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067175"/>
            <a:ext cx="21431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Ruang masalah, tahapan pencarian frontier, dan tabel UCS.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1125" y="32385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0284C7"/>
                </a:solidFill>
                <a:latin typeface="Plus Jakarta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771900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Hasil &amp; Evaluasi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067175"/>
            <a:ext cx="21431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Perbandingan metode (BFS, DFS, UCS) dan kesimpulan.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19019" y="2714625"/>
            <a:ext cx="4510980" cy="2400300"/>
          </a:xfrm>
          <a:prstGeom prst="roundRect">
            <a:avLst>
              <a:gd name="adj" fmla="val 634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2133600"/>
            <a:ext cx="5852219" cy="10858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3371850"/>
            <a:ext cx="5852219" cy="10858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4610100"/>
            <a:ext cx="5852219" cy="10858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223819" y="3724275"/>
            <a:ext cx="3901380" cy="504825"/>
          </a:xfrm>
          <a:prstGeom prst="roundRect">
            <a:avLst>
              <a:gd name="adj" fmla="val 15094"/>
            </a:avLst>
          </a:prstGeom>
          <a:solidFill>
            <a:srgbClr val="1B2335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23819" y="4381500"/>
            <a:ext cx="3901380" cy="428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2133600"/>
            <a:ext cx="38100" cy="1085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3371850"/>
            <a:ext cx="38100" cy="1085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2000" y="4610100"/>
            <a:ext cx="38100" cy="1085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23819" y="4381500"/>
            <a:ext cx="39013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819" y="3019425"/>
            <a:ext cx="1714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LATAR BELAKANG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Deskripsi Kasus &amp; Model Waktu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819" y="3438525"/>
            <a:ext cx="4876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Ruas Parkiran → G3-1: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6219" y="3876675"/>
            <a:ext cx="369183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monospace"/>
              </a:rPr>
              <a:t>32 langkah × 0.73 dt = 23.36 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2324100"/>
            <a:ext cx="70309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Tujuan Pencarian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2600325"/>
            <a:ext cx="545216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Mencari rute jalan kaki tercepat dari titik awal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Parkiran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menuju titik tujuan akhir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Rooftop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3562350"/>
            <a:ext cx="70309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Jalur &amp; Topologi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3838575"/>
            <a:ext cx="545216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Melewati Gedung 1, Gedung 3, dan Perpustakaan. Semua ruas bersifat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satu arah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menuju Rooftop.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4800600"/>
            <a:ext cx="70309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Metode Estimasi Waktu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5076825"/>
            <a:ext cx="545216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Dihitung dari estimasi jumlah langkah ×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0.73 detik/langkah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(dibulatkan ke detik terdekat).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9569" y="3024187"/>
            <a:ext cx="222527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Contoh Perhitungan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819" y="4591050"/>
            <a:ext cx="1400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Hasil Pembulatan: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96525" y="4543425"/>
            <a:ext cx="111442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0B981"/>
                </a:solidFill>
                <a:latin typeface="Plus Jakarta Sans"/>
              </a:rPr>
              <a:t>23 Detik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37470" y="3495675"/>
            <a:ext cx="790575" cy="257175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37470" y="4029075"/>
            <a:ext cx="819150" cy="257175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343150"/>
            <a:ext cx="10668000" cy="31432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2343150"/>
          <a:ext cx="10667999" cy="3143250"/>
        </p:xfrm>
        <a:graphic>
          <a:graphicData uri="http://schemas.openxmlformats.org/drawingml/2006/table">
            <a:tbl>
              <a:tblPr/>
              <a:tblGrid>
                <a:gridCol w="234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Komponen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Definisi / Deskripsi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Posisi pada salah satu dari </a:t>
                      </a:r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 titik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: Parkiran, G3-1, G3-2, G3-3, G3-4, G1-1, G1-2, G1-3, Perpus, Rooftop.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Initial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Goal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Berpindah ke titik berikutnya yang terhubung searah panah.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Path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Akumulasi waktu jalan kaki per ruas (dalam detik).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SPESIFIKASI MENGGUNAKAN UCS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Formulasi Masalah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1770" y="3533775"/>
            <a:ext cx="6572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369A1"/>
                </a:solidFill>
                <a:latin typeface="Plus Jakarta Sans"/>
              </a:rPr>
              <a:t>Parkiran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1770" y="4067175"/>
            <a:ext cx="685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47857"/>
                </a:solidFill>
                <a:latin typeface="Plus Jakarta Sans"/>
              </a:rPr>
              <a:t>Rooftop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1" y="1695450"/>
            <a:ext cx="5675376" cy="388620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98" y="1695451"/>
            <a:ext cx="6237438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Plus Jakarta Sans"/>
              </a:rPr>
              <a:t>VISUALISASI TOPOLOGI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Space Grotesk"/>
              </a:rPr>
              <a:t>Graf Rute Kampus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1584" y="4845397"/>
            <a:ext cx="1562928" cy="1797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 dirty="0">
                <a:solidFill>
                  <a:srgbClr val="FFFFFF"/>
                </a:solidFill>
                <a:latin typeface="Plus Jakarta Sans"/>
              </a:rPr>
              <a:t>23 + 13 + 10 + 10 + 15 = 71 k</a:t>
            </a:r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279DFFDA-D288-A5EE-2E5E-5179B732C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695450"/>
            <a:ext cx="5071872" cy="3886201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26F6F58-B62F-70A1-692F-233E86E2E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941792"/>
              </p:ext>
            </p:extLst>
          </p:nvPr>
        </p:nvGraphicFramePr>
        <p:xfrm>
          <a:off x="6632690" y="1819656"/>
          <a:ext cx="4760492" cy="3476625"/>
        </p:xfrm>
        <a:graphic>
          <a:graphicData uri="http://schemas.openxmlformats.org/drawingml/2006/table">
            <a:tbl>
              <a:tblPr/>
              <a:tblGrid>
                <a:gridCol w="382827">
                  <a:extLst>
                    <a:ext uri="{9D8B030D-6E8A-4147-A177-3AD203B41FA5}">
                      <a16:colId xmlns:a16="http://schemas.microsoft.com/office/drawing/2014/main" val="2908966113"/>
                    </a:ext>
                  </a:extLst>
                </a:gridCol>
                <a:gridCol w="1340001">
                  <a:extLst>
                    <a:ext uri="{9D8B030D-6E8A-4147-A177-3AD203B41FA5}">
                      <a16:colId xmlns:a16="http://schemas.microsoft.com/office/drawing/2014/main" val="1731893548"/>
                    </a:ext>
                  </a:extLst>
                </a:gridCol>
                <a:gridCol w="3037664">
                  <a:extLst>
                    <a:ext uri="{9D8B030D-6E8A-4147-A177-3AD203B41FA5}">
                      <a16:colId xmlns:a16="http://schemas.microsoft.com/office/drawing/2014/main" val="3387852471"/>
                    </a:ext>
                  </a:extLst>
                </a:gridCol>
              </a:tblGrid>
              <a:tr h="316056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Node Diambil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Frontier Setelahnya (Urut Biaya)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244914"/>
                  </a:ext>
                </a:extLst>
              </a:tr>
              <a:tr h="31605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 err="1">
                          <a:solidFill>
                            <a:srgbClr val="334155"/>
                          </a:solidFill>
                          <a:latin typeface="Plus Jakarta Sans"/>
                        </a:rPr>
                        <a:t>Parkiran</a:t>
                      </a:r>
                      <a:r>
                        <a:rPr sz="975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 (0)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[G3-1(23)]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315898"/>
                  </a:ext>
                </a:extLst>
              </a:tr>
              <a:tr h="31605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G3-1 (23)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[G1-1(33), G3-2(36)]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795324"/>
                  </a:ext>
                </a:extLst>
              </a:tr>
              <a:tr h="31605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G1-1 (33)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[G3-2(36), G1-2(43)]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692586"/>
                  </a:ext>
                </a:extLst>
              </a:tr>
              <a:tr h="31605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G3-2 (36)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[G1-2(43), G3-3(46)]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799630"/>
                  </a:ext>
                </a:extLst>
              </a:tr>
              <a:tr h="31605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G1-2 (43)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334155"/>
                          </a:solidFill>
                          <a:latin typeface="monospace"/>
                        </a:rPr>
                        <a:t>[G3-3(46), G1-3(53)]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74240"/>
                  </a:ext>
                </a:extLst>
              </a:tr>
              <a:tr h="31605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G3-3 (46)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334155"/>
                          </a:solidFill>
                          <a:latin typeface="monospace"/>
                        </a:rPr>
                        <a:t>[G1-3(53), G3-4(56)]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767529"/>
                  </a:ext>
                </a:extLst>
              </a:tr>
              <a:tr h="31605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G1-3 (53)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[G3-4(56), Perpus(57)]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642441"/>
                  </a:ext>
                </a:extLst>
              </a:tr>
              <a:tr h="31605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G3-4 (56)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[Perpus(57), Rooftop(71)]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273109"/>
                  </a:ext>
                </a:extLst>
              </a:tr>
              <a:tr h="316056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Perpus (57)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monospace"/>
                        </a:rPr>
                        <a:t>[Rooftop(71)]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793923"/>
                  </a:ext>
                </a:extLst>
              </a:tr>
              <a:tr h="31606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47857"/>
                          </a:solidFill>
                          <a:latin typeface="Plus Jakarta Sans"/>
                        </a:rPr>
                        <a:t>Rooftop (71)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047857"/>
                          </a:solidFill>
                          <a:latin typeface="Plus Jakarta Sans"/>
                        </a:rPr>
                        <a:t>[ ] (GOAL REACHED)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7403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733925"/>
            <a:ext cx="5257800" cy="6096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72200" y="4733925"/>
            <a:ext cx="5257800" cy="60960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2486025"/>
            <a:ext cx="10668000" cy="20193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2486025"/>
          <a:ext cx="10648947" cy="2019300"/>
        </p:xfrm>
        <a:graphic>
          <a:graphicData uri="http://schemas.openxmlformats.org/drawingml/2006/table">
            <a:tbl>
              <a:tblPr/>
              <a:tblGrid>
                <a:gridCol w="1320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3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Metode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Biaya 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Titik Diambil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Jalur yang Ditemukan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BFS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71 detik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 titik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Parkiran → G3-1 → G3-2 → G3-3 → G3-4 → Rooftop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DFS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73 detik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 titik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Parkiran → G3-1 → G1-1 → G1-2 → G1-3 → Perpus → Rooftop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UCS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59669"/>
                          </a:solidFill>
                          <a:latin typeface="Plus Jakarta Sans"/>
                        </a:rPr>
                        <a:t>71 detik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10 titik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Parkiran → G3-1 → G3-2 → G3-3 → G3-4 → Rooftop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BENCHMARK ALGORITMA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Perbandingan BFS, DFS, dan UCS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886325"/>
            <a:ext cx="4972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75569"/>
                </a:solidFill>
                <a:latin typeface="Plus Jakarta Sans"/>
              </a:rPr>
              <a:t>Catatan BFS:</a:t>
            </a:r>
            <a:r>
              <a:rPr sz="975" b="0" i="0" u="none">
                <a:solidFill>
                  <a:srgbClr val="475569"/>
                </a:solidFill>
                <a:latin typeface="Plus Jakarta Sans"/>
              </a:rPr>
              <a:t> Menghasilkan 71 detik secara kebetulan karena menemukan jalur dengan jumlah kedalaman/ruas paling sedikit.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2700" y="4886325"/>
            <a:ext cx="4972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75569"/>
                </a:solidFill>
                <a:latin typeface="Plus Jakarta Sans"/>
              </a:rPr>
              <a:t>Catatan DFS:</a:t>
            </a:r>
            <a:r>
              <a:rPr sz="975" b="0" i="0" u="none">
                <a:solidFill>
                  <a:srgbClr val="475569"/>
                </a:solidFill>
                <a:latin typeface="Plus Jakarta Sans"/>
              </a:rPr>
              <a:t> Menghasilkan 73 detik (sub-optimal) karena terjebak menyusuri cabang Gedung 1 &amp; Perpus terlebih dahulu.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504950"/>
            <a:ext cx="5219700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1504950"/>
            <a:ext cx="5219700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6325" y="5695950"/>
            <a:ext cx="4591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24625" y="5695950"/>
            <a:ext cx="4591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18192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18192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1943100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450" y="1943100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ANALISIS SOLUSI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Mengapa Memilih UCS?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5848350"/>
            <a:ext cx="4686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Plus Jakarta Sans"/>
              </a:rPr>
              <a:t>Solusi Terpilih: 71 Detik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5848350"/>
            <a:ext cx="46863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Plus Jakarta Sans"/>
              </a:rPr>
              <a:t>Eksplorasi Berbasis Cost $g(n)$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2466975"/>
            <a:ext cx="602575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Jaminan Optimalitas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281940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UCS selalu mengutamakan jalur dengan acumulasi biaya termurah. Selama bobot/waktu tidak negatif ($c \ge 0$), UCS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dijamin menemukan rute tercepat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466975"/>
            <a:ext cx="5667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Evaluasi Jalur Kumulatif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2819400"/>
            <a:ext cx="46863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Berbeda dari BFS yang hanya menghitung jumlah node, UCS secara adaptif mengevaluasi total waktu nyata per ruas rute secara teliti.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504950"/>
            <a:ext cx="3429000" cy="4819650"/>
          </a:xfrm>
          <a:prstGeom prst="roundRect">
            <a:avLst>
              <a:gd name="adj" fmla="val 3333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1504950"/>
            <a:ext cx="3429000" cy="4819650"/>
          </a:xfrm>
          <a:prstGeom prst="roundRect">
            <a:avLst>
              <a:gd name="adj" fmla="val 3333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01000" y="1504950"/>
            <a:ext cx="3429000" cy="4819650"/>
          </a:xfrm>
          <a:prstGeom prst="roundRect">
            <a:avLst>
              <a:gd name="adj" fmla="val 3333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81175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781175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5" y="1781175"/>
            <a:ext cx="1238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DISKUSI KRITIS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762000"/>
            <a:ext cx="114300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Kelemahan &amp; Batasan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095500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81337"/>
                </a:solidFill>
                <a:latin typeface="Plus Jakarta Sans"/>
              </a:rPr>
              <a:t>Akurasi Data Estimasi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2371725"/>
            <a:ext cx="3048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F1239"/>
                </a:solidFill>
                <a:latin typeface="Plus Jakarta Sans"/>
              </a:rPr>
              <a:t>Data berdasarkan estimasi langkah. Selisih 2 detik (71s vs 73s) berada dalam rentang margin error. Membutuhkan pengukuran ulang dengan </a:t>
            </a:r>
            <a:r>
              <a:rPr sz="1050" b="0" i="1" u="none">
                <a:solidFill>
                  <a:srgbClr val="9F1239"/>
                </a:solidFill>
                <a:latin typeface="Plus Jakarta Sans"/>
              </a:rPr>
              <a:t>stopwatch</a:t>
            </a:r>
            <a:r>
              <a:rPr sz="1050" b="0" i="0" u="none">
                <a:solidFill>
                  <a:srgbClr val="9F1239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2095500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81337"/>
                </a:solidFill>
                <a:latin typeface="Plus Jakarta Sans"/>
              </a:rPr>
              <a:t>Efisiensi Tanpa Heuristik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2371725"/>
            <a:ext cx="3048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F1239"/>
                </a:solidFill>
                <a:latin typeface="Plus Jakarta Sans"/>
              </a:rPr>
              <a:t>UCS tidak memiliki petunjuk arah (blind search) sehingga harus mengekspansi seluruh 10 titik. Menyimpan seluruh frontier yang memakan memori pada peta besar.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9125" y="2095500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81337"/>
                </a:solidFill>
                <a:latin typeface="Plus Jakarta Sans"/>
              </a:rPr>
              <a:t>Restriksi Model Graf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9125" y="2371725"/>
            <a:ext cx="3048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F1239"/>
                </a:solidFill>
                <a:latin typeface="Plus Jakarta Sans"/>
              </a:rPr>
              <a:t>Model terbatas hanya pada rute </a:t>
            </a:r>
            <a:r>
              <a:rPr sz="1050" b="1" i="0" u="none">
                <a:solidFill>
                  <a:srgbClr val="9F1239"/>
                </a:solidFill>
                <a:latin typeface="Plus Jakarta Sans"/>
              </a:rPr>
              <a:t>satu arah</a:t>
            </a:r>
            <a:r>
              <a:rPr sz="1050" b="0" i="0" u="none">
                <a:solidFill>
                  <a:srgbClr val="9F1239"/>
                </a:solidFill>
                <a:latin typeface="Plus Jakarta Sans"/>
              </a:rPr>
              <a:t> menuju Rooftop, belum memodelkan arah sebaliknya atau kondisi rute dua arah yang lebih kompleks.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38500" y="4438650"/>
            <a:ext cx="57150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38500" y="4438650"/>
            <a:ext cx="571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009775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2" y="2181225"/>
            <a:ext cx="33337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83273" y="2847975"/>
            <a:ext cx="3625453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Space Grotesk"/>
              </a:rPr>
              <a:t>Terima Kasih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9437" y="3581400"/>
            <a:ext cx="5953125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Apakah Ada Pertanyaan Terkait Pencarian Rute Tercepat UCS Ini?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3766" y="4676775"/>
            <a:ext cx="1702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Plus Jakarta Sans"/>
              </a:rPr>
              <a:t>I Putu Atditya Perdana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7126" y="4676775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Plus Jakarta Sans"/>
              </a:rPr>
              <a:t>I Putu Bujangga Oka Putra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0992" y="4676775"/>
            <a:ext cx="2274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Plus Jakarta Sans"/>
              </a:rPr>
              <a:t>I Wayan Bayu Kusumadinatha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674</Words>
  <Application>Microsoft Office PowerPoint</Application>
  <PresentationFormat>Widescreen</PresentationFormat>
  <Paragraphs>128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Space Grotesk</vt:lpstr>
      <vt:lpstr>Calibri</vt:lpstr>
      <vt:lpstr>Plus Jakarta Sans</vt:lpstr>
      <vt:lpstr>monospace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 YOGA</dc:creator>
  <cp:keywords/>
  <dc:description>generated using python-pptx</dc:description>
  <cp:lastModifiedBy>I Wayan Bayu Kusumadinatha</cp:lastModifiedBy>
  <cp:revision>3</cp:revision>
  <dcterms:created xsi:type="dcterms:W3CDTF">2013-01-27T09:14:16Z</dcterms:created>
  <dcterms:modified xsi:type="dcterms:W3CDTF">2026-10-13T03:34:50Z</dcterms:modified>
  <cp:category/>
</cp:coreProperties>
</file>